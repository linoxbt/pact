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3D32"/>
        </a:solidFill>
      </p:bgPr>
    </p:bg>
    <p:spTree>
      <p:nvGrpSpPr>
        <p:cNvPr id="1" name=""/>
        <p:cNvGrpSpPr/>
        <p:nvPr/>
      </p:nvGrpSpPr>
      <p:grpSpPr>
        <a:xfrm>
          <a:off x="0" y="0"/>
          <a:ext cx="0" cy="0"/>
          <a:chOff x="0" y="0"/>
          <a:chExt cx="0" cy="0"/>
        </a:xfrm>
      </p:grpSpPr>
      <p:sp>
        <p:nvSpPr>
          <p:cNvPr id="2" name="Text 0"/>
          <p:cNvSpPr/>
          <p:nvPr/>
        </p:nvSpPr>
        <p:spPr>
          <a:xfrm>
            <a:off x="731520" y="566928"/>
            <a:ext cx="10058400" cy="256032"/>
          </a:xfrm>
          <a:prstGeom prst="rect">
            <a:avLst/>
          </a:prstGeom>
          <a:noFill/>
          <a:ln/>
        </p:spPr>
        <p:txBody>
          <a:bodyPr wrap="square" lIns="0" tIns="0" rIns="0" bIns="0" rtlCol="0" anchor="ctr"/>
          <a:lstStyle/>
          <a:p>
            <a:pPr indent="0" marL="0">
              <a:buNone/>
            </a:pPr>
            <a:r>
              <a:rPr lang="en-US" sz="1100" b="1" spc="200" kern="0" dirty="0">
                <a:solidFill>
                  <a:srgbClr val="B9E7C6"/>
                </a:solidFill>
                <a:latin typeface="Arial" pitchFamily="34" charset="0"/>
                <a:ea typeface="Arial" pitchFamily="34" charset="-122"/>
                <a:cs typeface="Arial" pitchFamily="34" charset="-120"/>
              </a:rPr>
              <a:t>01 / THE PRODUCT</a:t>
            </a:r>
            <a:endParaRPr lang="en-US" sz="1100" dirty="0"/>
          </a:p>
        </p:txBody>
      </p:sp>
      <p:sp>
        <p:nvSpPr>
          <p:cNvPr id="3" name="Text 1"/>
          <p:cNvSpPr/>
          <p:nvPr/>
        </p:nvSpPr>
        <p:spPr>
          <a:xfrm>
            <a:off x="731520" y="1115568"/>
            <a:ext cx="10698480" cy="9601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Pact</a:t>
            </a:r>
            <a:endParaRPr lang="en-US" sz="3800" dirty="0"/>
          </a:p>
        </p:txBody>
      </p:sp>
      <p:sp>
        <p:nvSpPr>
          <p:cNvPr id="4" name="Text 2"/>
          <p:cNvSpPr/>
          <p:nvPr/>
        </p:nvSpPr>
        <p:spPr>
          <a:xfrm>
            <a:off x="731520" y="2075688"/>
            <a:ext cx="10789920" cy="612648"/>
          </a:xfrm>
          <a:prstGeom prst="rect">
            <a:avLst/>
          </a:prstGeom>
          <a:noFill/>
          <a:ln/>
        </p:spPr>
        <p:txBody>
          <a:bodyPr wrap="square" lIns="0" tIns="0" rIns="0" bIns="0" rtlCol="0" anchor="ctr"/>
          <a:lstStyle/>
          <a:p>
            <a:pPr indent="0" marL="0">
              <a:buNone/>
            </a:pPr>
            <a:r>
              <a:rPr lang="en-US" sz="2100" dirty="0">
                <a:solidFill>
                  <a:srgbClr val="B9E7C6"/>
                </a:solidFill>
                <a:latin typeface="Arial" pitchFamily="34" charset="0"/>
                <a:ea typeface="Arial" pitchFamily="34" charset="-122"/>
                <a:cs typeface="Arial" pitchFamily="34" charset="-120"/>
              </a:rPr>
              <a:t>Programmable authority for autonomous agents</a:t>
            </a:r>
            <a:endParaRPr lang="en-US" sz="2100" dirty="0"/>
          </a:p>
        </p:txBody>
      </p:sp>
      <p:sp>
        <p:nvSpPr>
          <p:cNvPr id="5" name="Text 3"/>
          <p:cNvSpPr/>
          <p:nvPr/>
        </p:nvSpPr>
        <p:spPr>
          <a:xfrm>
            <a:off x="731520" y="2898648"/>
            <a:ext cx="5486400" cy="2423160"/>
          </a:xfrm>
          <a:prstGeom prst="rect">
            <a:avLst/>
          </a:prstGeom>
          <a:noFill/>
          <a:ln/>
        </p:spPr>
        <p:txBody>
          <a:bodyPr wrap="square" lIns="0" tIns="0" rIns="0" bIns="0" rtlCol="0" anchor="t">
            <a:normAutofit/>
          </a:bodyPr>
          <a:lstStyle/>
          <a:p>
            <a:pPr indent="0" marL="0">
              <a:buNone/>
            </a:pPr>
            <a:r>
              <a:rPr lang="en-US" sz="1800" dirty="0">
                <a:solidFill>
                  <a:srgbClr val="FFFFFF"/>
                </a:solidFill>
                <a:latin typeface="Arial" pitchFamily="34" charset="0"/>
                <a:ea typeface="Arial" pitchFamily="34" charset="-122"/>
                <a:cs typeface="Arial" pitchFamily="34" charset="-120"/>
              </a:rPr>
              <a:t>Connect an agent. Set its boundaries. See every decision. Verify an economic receipt on Monad when the action settles.</a:t>
            </a:r>
            <a:endParaRPr lang="en-US" sz="1800" dirty="0"/>
          </a:p>
        </p:txBody>
      </p:sp>
      <p:pic>
        <p:nvPicPr>
          <p:cNvPr id="6" name="Image 0" descr="/root/Pact/submission/metropolis-2026/media/live-product.png">    </p:cNvPr>
          <p:cNvPicPr>
            <a:picLocks noChangeAspect="1"/>
          </p:cNvPicPr>
          <p:nvPr/>
        </p:nvPicPr>
        <p:blipFill>
          <a:blip r:embed="rId1"/>
          <a:stretch>
            <a:fillRect/>
          </a:stretch>
        </p:blipFill>
        <p:spPr>
          <a:xfrm>
            <a:off x="6949440" y="2999232"/>
            <a:ext cx="4443984" cy="2606040"/>
          </a:xfrm>
          <a:prstGeom prst="rect">
            <a:avLst/>
          </a:prstGeom>
        </p:spPr>
      </p:pic>
      <p:sp>
        <p:nvSpPr>
          <p:cNvPr id="7" name="Text 4"/>
          <p:cNvSpPr/>
          <p:nvPr/>
        </p:nvSpPr>
        <p:spPr>
          <a:xfrm>
            <a:off x="731520" y="6419088"/>
            <a:ext cx="6400800" cy="164592"/>
          </a:xfrm>
          <a:prstGeom prst="rect">
            <a:avLst/>
          </a:prstGeom>
          <a:noFill/>
          <a:ln/>
        </p:spPr>
        <p:txBody>
          <a:bodyPr wrap="square" lIns="0" tIns="0" rIns="0" bIns="0" rtlCol="0" anchor="ctr"/>
          <a:lstStyle/>
          <a:p>
            <a:pPr indent="0" marL="0">
              <a:buNone/>
            </a:pPr>
            <a:r>
              <a:rPr lang="en-US" sz="800" dirty="0">
                <a:solidFill>
                  <a:srgbClr val="B9E7C6"/>
                </a:solidFill>
                <a:latin typeface="Arial" pitchFamily="34" charset="0"/>
                <a:ea typeface="Arial" pitchFamily="34" charset="-122"/>
                <a:cs typeface="Arial" pitchFamily="34" charset="-120"/>
              </a:rPr>
              <a:t>PACT  /  METROPOLIS 2026  /  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731520" y="566928"/>
            <a:ext cx="10058400" cy="256032"/>
          </a:xfrm>
          <a:prstGeom prst="rect">
            <a:avLst/>
          </a:prstGeom>
          <a:noFill/>
          <a:ln/>
        </p:spPr>
        <p:txBody>
          <a:bodyPr wrap="square" lIns="0" tIns="0" rIns="0" bIns="0" rtlCol="0" anchor="ctr"/>
          <a:lstStyle/>
          <a:p>
            <a:pPr indent="0" marL="0">
              <a:buNone/>
            </a:pPr>
            <a:r>
              <a:rPr lang="en-US" sz="1100" b="1" spc="200" kern="0" dirty="0">
                <a:solidFill>
                  <a:srgbClr val="668071"/>
                </a:solidFill>
                <a:latin typeface="Arial" pitchFamily="34" charset="0"/>
                <a:ea typeface="Arial" pitchFamily="34" charset="-122"/>
                <a:cs typeface="Arial" pitchFamily="34" charset="-120"/>
              </a:rPr>
              <a:t>02 / THE PROBLEM</a:t>
            </a:r>
            <a:endParaRPr lang="en-US" sz="1100" dirty="0"/>
          </a:p>
        </p:txBody>
      </p:sp>
      <p:sp>
        <p:nvSpPr>
          <p:cNvPr id="3" name="Text 1"/>
          <p:cNvSpPr/>
          <p:nvPr/>
        </p:nvSpPr>
        <p:spPr>
          <a:xfrm>
            <a:off x="731520" y="1115568"/>
            <a:ext cx="10698480" cy="960120"/>
          </a:xfrm>
          <a:prstGeom prst="rect">
            <a:avLst/>
          </a:prstGeom>
          <a:noFill/>
          <a:ln/>
        </p:spPr>
        <p:txBody>
          <a:bodyPr wrap="square" lIns="0" tIns="0" rIns="0" bIns="0" rtlCol="0" anchor="ctr"/>
          <a:lstStyle/>
          <a:p>
            <a:pPr indent="0" marL="0">
              <a:buNone/>
            </a:pPr>
            <a:r>
              <a:rPr lang="en-US" sz="3800" b="1" dirty="0">
                <a:solidFill>
                  <a:srgbClr val="203D32"/>
                </a:solidFill>
                <a:latin typeface="Arial" pitchFamily="34" charset="0"/>
                <a:ea typeface="Arial" pitchFamily="34" charset="-122"/>
                <a:cs typeface="Arial" pitchFamily="34" charset="-120"/>
              </a:rPr>
              <a:t>Agents now act in real systems.</a:t>
            </a:r>
            <a:endParaRPr lang="en-US" sz="3800" dirty="0"/>
          </a:p>
        </p:txBody>
      </p:sp>
      <p:sp>
        <p:nvSpPr>
          <p:cNvPr id="4" name="Text 2"/>
          <p:cNvSpPr/>
          <p:nvPr/>
        </p:nvSpPr>
        <p:spPr>
          <a:xfrm>
            <a:off x="731520" y="2075688"/>
            <a:ext cx="10789920" cy="612648"/>
          </a:xfrm>
          <a:prstGeom prst="rect">
            <a:avLst/>
          </a:prstGeom>
          <a:noFill/>
          <a:ln/>
        </p:spPr>
        <p:txBody>
          <a:bodyPr wrap="square" lIns="0" tIns="0" rIns="0" bIns="0" rtlCol="0" anchor="ctr"/>
          <a:lstStyle/>
          <a:p>
            <a:pPr indent="0" marL="0">
              <a:buNone/>
            </a:pPr>
            <a:r>
              <a:rPr lang="en-US" sz="2100" dirty="0">
                <a:solidFill>
                  <a:srgbClr val="668071"/>
                </a:solidFill>
                <a:latin typeface="Arial" pitchFamily="34" charset="0"/>
                <a:ea typeface="Arial" pitchFamily="34" charset="-122"/>
                <a:cs typeface="Arial" pitchFamily="34" charset="-120"/>
              </a:rPr>
              <a:t>Access is easy. Accountability is harder.</a:t>
            </a:r>
            <a:endParaRPr lang="en-US" sz="2100" dirty="0"/>
          </a:p>
        </p:txBody>
      </p:sp>
      <p:sp>
        <p:nvSpPr>
          <p:cNvPr id="5" name="Text 3"/>
          <p:cNvSpPr/>
          <p:nvPr/>
        </p:nvSpPr>
        <p:spPr>
          <a:xfrm>
            <a:off x="731520" y="2898648"/>
            <a:ext cx="9966960" cy="2423160"/>
          </a:xfrm>
          <a:prstGeom prst="rect">
            <a:avLst/>
          </a:prstGeom>
          <a:noFill/>
          <a:ln/>
        </p:spPr>
        <p:txBody>
          <a:bodyPr wrap="square" lIns="0" tIns="0" rIns="0" bIns="0" rtlCol="0" anchor="t">
            <a:normAutofit/>
          </a:bodyPr>
          <a:lstStyle/>
          <a:p>
            <a:pPr indent="0" marL="0">
              <a:buNone/>
            </a:pPr>
            <a:r>
              <a:rPr lang="en-US" sz="2100" dirty="0">
                <a:solidFill>
                  <a:srgbClr val="203D32"/>
                </a:solidFill>
                <a:latin typeface="Arial" pitchFamily="34" charset="0"/>
                <a:ea typeface="Arial" pitchFamily="34" charset="-122"/>
                <a:cs typeface="Arial" pitchFamily="34" charset="-120"/>
              </a:rPr>
              <a:t>A wallet or provider key grants broad power. A prompt does not establish who authorized an action, what liability it creates, or why a service accepted it.</a:t>
            </a:r>
            <a:endParaRPr lang="en-US" sz="2100" dirty="0"/>
          </a:p>
        </p:txBody>
      </p:sp>
      <p:sp>
        <p:nvSpPr>
          <p:cNvPr id="6" name="Text 4"/>
          <p:cNvSpPr/>
          <p:nvPr/>
        </p:nvSpPr>
        <p:spPr>
          <a:xfrm>
            <a:off x="731520" y="6419088"/>
            <a:ext cx="6400800" cy="164592"/>
          </a:xfrm>
          <a:prstGeom prst="rect">
            <a:avLst/>
          </a:prstGeom>
          <a:noFill/>
          <a:ln/>
        </p:spPr>
        <p:txBody>
          <a:bodyPr wrap="square" lIns="0" tIns="0" rIns="0" bIns="0" rtlCol="0" anchor="ctr"/>
          <a:lstStyle/>
          <a:p>
            <a:pPr indent="0" marL="0">
              <a:buNone/>
            </a:pPr>
            <a:r>
              <a:rPr lang="en-US" sz="800" dirty="0">
                <a:solidFill>
                  <a:srgbClr val="668071"/>
                </a:solidFill>
                <a:latin typeface="Arial" pitchFamily="34" charset="0"/>
                <a:ea typeface="Arial" pitchFamily="34" charset="-122"/>
                <a:cs typeface="Arial" pitchFamily="34" charset="-120"/>
              </a:rPr>
              <a:t>PACT  /  METROPOLIS 2026  /  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731520" y="566928"/>
            <a:ext cx="10058400" cy="256032"/>
          </a:xfrm>
          <a:prstGeom prst="rect">
            <a:avLst/>
          </a:prstGeom>
          <a:noFill/>
          <a:ln/>
        </p:spPr>
        <p:txBody>
          <a:bodyPr wrap="square" lIns="0" tIns="0" rIns="0" bIns="0" rtlCol="0" anchor="ctr"/>
          <a:lstStyle/>
          <a:p>
            <a:pPr indent="0" marL="0">
              <a:buNone/>
            </a:pPr>
            <a:r>
              <a:rPr lang="en-US" sz="1100" b="1" spc="200" kern="0" dirty="0">
                <a:solidFill>
                  <a:srgbClr val="668071"/>
                </a:solidFill>
                <a:latin typeface="Arial" pitchFamily="34" charset="0"/>
                <a:ea typeface="Arial" pitchFamily="34" charset="-122"/>
                <a:cs typeface="Arial" pitchFamily="34" charset="-120"/>
              </a:rPr>
              <a:t>03 / THE SOLUTION</a:t>
            </a:r>
            <a:endParaRPr lang="en-US" sz="1100" dirty="0"/>
          </a:p>
        </p:txBody>
      </p:sp>
      <p:sp>
        <p:nvSpPr>
          <p:cNvPr id="3" name="Text 1"/>
          <p:cNvSpPr/>
          <p:nvPr/>
        </p:nvSpPr>
        <p:spPr>
          <a:xfrm>
            <a:off x="731520" y="1115568"/>
            <a:ext cx="10698480" cy="960120"/>
          </a:xfrm>
          <a:prstGeom prst="rect">
            <a:avLst/>
          </a:prstGeom>
          <a:noFill/>
          <a:ln/>
        </p:spPr>
        <p:txBody>
          <a:bodyPr wrap="square" lIns="0" tIns="0" rIns="0" bIns="0" rtlCol="0" anchor="ctr"/>
          <a:lstStyle/>
          <a:p>
            <a:pPr indent="0" marL="0">
              <a:buNone/>
            </a:pPr>
            <a:r>
              <a:rPr lang="en-US" sz="3800" b="1" dirty="0">
                <a:solidFill>
                  <a:srgbClr val="203D32"/>
                </a:solidFill>
                <a:latin typeface="Arial" pitchFamily="34" charset="0"/>
                <a:ea typeface="Arial" pitchFamily="34" charset="-122"/>
                <a:cs typeface="Arial" pitchFamily="34" charset="-120"/>
              </a:rPr>
              <a:t>One enforceable boundary.</a:t>
            </a:r>
            <a:endParaRPr lang="en-US" sz="3800" dirty="0"/>
          </a:p>
        </p:txBody>
      </p:sp>
      <p:sp>
        <p:nvSpPr>
          <p:cNvPr id="4" name="Text 2"/>
          <p:cNvSpPr/>
          <p:nvPr/>
        </p:nvSpPr>
        <p:spPr>
          <a:xfrm>
            <a:off x="731520" y="2075688"/>
            <a:ext cx="10789920" cy="612648"/>
          </a:xfrm>
          <a:prstGeom prst="rect">
            <a:avLst/>
          </a:prstGeom>
          <a:noFill/>
          <a:ln/>
        </p:spPr>
        <p:txBody>
          <a:bodyPr wrap="square" lIns="0" tIns="0" rIns="0" bIns="0" rtlCol="0" anchor="ctr"/>
          <a:lstStyle/>
          <a:p>
            <a:pPr indent="0" marL="0">
              <a:buNone/>
            </a:pPr>
            <a:r>
              <a:rPr lang="en-US" sz="2100" dirty="0">
                <a:solidFill>
                  <a:srgbClr val="668071"/>
                </a:solidFill>
                <a:latin typeface="Arial" pitchFamily="34" charset="0"/>
                <a:ea typeface="Arial" pitchFamily="34" charset="-122"/>
                <a:cs typeface="Arial" pitchFamily="34" charset="-120"/>
              </a:rPr>
              <a:t>Identity → authority → decision → outcome</a:t>
            </a:r>
            <a:endParaRPr lang="en-US" sz="2100" dirty="0"/>
          </a:p>
        </p:txBody>
      </p:sp>
      <p:sp>
        <p:nvSpPr>
          <p:cNvPr id="5" name="Text 3"/>
          <p:cNvSpPr/>
          <p:nvPr/>
        </p:nvSpPr>
        <p:spPr>
          <a:xfrm>
            <a:off x="731520" y="2898648"/>
            <a:ext cx="9966960" cy="2423160"/>
          </a:xfrm>
          <a:prstGeom prst="rect">
            <a:avLst/>
          </a:prstGeom>
          <a:noFill/>
          <a:ln/>
        </p:spPr>
        <p:txBody>
          <a:bodyPr wrap="square" lIns="0" tIns="0" rIns="0" bIns="0" rtlCol="0" anchor="t">
            <a:normAutofit/>
          </a:bodyPr>
          <a:lstStyle/>
          <a:p>
            <a:pPr indent="0" marL="0">
              <a:buNone/>
            </a:pPr>
            <a:r>
              <a:rPr lang="en-US" sz="2100" dirty="0">
                <a:solidFill>
                  <a:srgbClr val="203D32"/>
                </a:solidFill>
                <a:latin typeface="Arial" pitchFamily="34" charset="0"/>
                <a:ea typeface="Arial" pitchFamily="34" charset="-122"/>
                <a:cs typeface="Arial" pitchFamily="34" charset="-120"/>
              </a:rPr>
              <a:t>An owner grant defines authority. Ordered policies check each proposed action. A scoped Pact key authenticates the integration. The gateway forwards only allowed calls and records the decision.</a:t>
            </a:r>
            <a:endParaRPr lang="en-US" sz="2100" dirty="0"/>
          </a:p>
        </p:txBody>
      </p:sp>
      <p:sp>
        <p:nvSpPr>
          <p:cNvPr id="6" name="Text 4"/>
          <p:cNvSpPr/>
          <p:nvPr/>
        </p:nvSpPr>
        <p:spPr>
          <a:xfrm>
            <a:off x="731520" y="6419088"/>
            <a:ext cx="6400800" cy="164592"/>
          </a:xfrm>
          <a:prstGeom prst="rect">
            <a:avLst/>
          </a:prstGeom>
          <a:noFill/>
          <a:ln/>
        </p:spPr>
        <p:txBody>
          <a:bodyPr wrap="square" lIns="0" tIns="0" rIns="0" bIns="0" rtlCol="0" anchor="ctr"/>
          <a:lstStyle/>
          <a:p>
            <a:pPr indent="0" marL="0">
              <a:buNone/>
            </a:pPr>
            <a:r>
              <a:rPr lang="en-US" sz="800" dirty="0">
                <a:solidFill>
                  <a:srgbClr val="668071"/>
                </a:solidFill>
                <a:latin typeface="Arial" pitchFamily="34" charset="0"/>
                <a:ea typeface="Arial" pitchFamily="34" charset="-122"/>
                <a:cs typeface="Arial" pitchFamily="34" charset="-120"/>
              </a:rPr>
              <a:t>PACT  /  METROPOLIS 2026  /  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03D32"/>
        </a:solidFill>
      </p:bgPr>
    </p:bg>
    <p:spTree>
      <p:nvGrpSpPr>
        <p:cNvPr id="1" name=""/>
        <p:cNvGrpSpPr/>
        <p:nvPr/>
      </p:nvGrpSpPr>
      <p:grpSpPr>
        <a:xfrm>
          <a:off x="0" y="0"/>
          <a:ext cx="0" cy="0"/>
          <a:chOff x="0" y="0"/>
          <a:chExt cx="0" cy="0"/>
        </a:xfrm>
      </p:grpSpPr>
      <p:sp>
        <p:nvSpPr>
          <p:cNvPr id="2" name="Text 0"/>
          <p:cNvSpPr/>
          <p:nvPr/>
        </p:nvSpPr>
        <p:spPr>
          <a:xfrm>
            <a:off x="731520" y="566928"/>
            <a:ext cx="10058400" cy="256032"/>
          </a:xfrm>
          <a:prstGeom prst="rect">
            <a:avLst/>
          </a:prstGeom>
          <a:noFill/>
          <a:ln/>
        </p:spPr>
        <p:txBody>
          <a:bodyPr wrap="square" lIns="0" tIns="0" rIns="0" bIns="0" rtlCol="0" anchor="ctr"/>
          <a:lstStyle/>
          <a:p>
            <a:pPr indent="0" marL="0">
              <a:buNone/>
            </a:pPr>
            <a:r>
              <a:rPr lang="en-US" sz="1100" b="1" spc="200" kern="0" dirty="0">
                <a:solidFill>
                  <a:srgbClr val="B9E7C6"/>
                </a:solidFill>
                <a:latin typeface="Arial" pitchFamily="34" charset="0"/>
                <a:ea typeface="Arial" pitchFamily="34" charset="-122"/>
                <a:cs typeface="Arial" pitchFamily="34" charset="-120"/>
              </a:rPr>
              <a:t>04 / CONNECT</a:t>
            </a:r>
            <a:endParaRPr lang="en-US" sz="1100" dirty="0"/>
          </a:p>
        </p:txBody>
      </p:sp>
      <p:sp>
        <p:nvSpPr>
          <p:cNvPr id="3" name="Text 1"/>
          <p:cNvSpPr/>
          <p:nvPr/>
        </p:nvSpPr>
        <p:spPr>
          <a:xfrm>
            <a:off x="731520" y="1115568"/>
            <a:ext cx="10698480" cy="9601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Developer-first setup.</a:t>
            </a:r>
            <a:endParaRPr lang="en-US" sz="3800" dirty="0"/>
          </a:p>
        </p:txBody>
      </p:sp>
      <p:sp>
        <p:nvSpPr>
          <p:cNvPr id="4" name="Text 2"/>
          <p:cNvSpPr/>
          <p:nvPr/>
        </p:nvSpPr>
        <p:spPr>
          <a:xfrm>
            <a:off x="731520" y="2075688"/>
            <a:ext cx="10789920" cy="612648"/>
          </a:xfrm>
          <a:prstGeom prst="rect">
            <a:avLst/>
          </a:prstGeom>
          <a:noFill/>
          <a:ln/>
        </p:spPr>
        <p:txBody>
          <a:bodyPr wrap="square" lIns="0" tIns="0" rIns="0" bIns="0" rtlCol="0" anchor="ctr"/>
          <a:lstStyle/>
          <a:p>
            <a:pPr indent="0" marL="0">
              <a:buNone/>
            </a:pPr>
            <a:r>
              <a:rPr lang="en-US" sz="2100" dirty="0">
                <a:solidFill>
                  <a:srgbClr val="B9E7C6"/>
                </a:solidFill>
                <a:latin typeface="Arial" pitchFamily="34" charset="0"/>
                <a:ea typeface="Arial" pitchFamily="34" charset="-122"/>
                <a:cs typeface="Arial" pitchFamily="34" charset="-120"/>
              </a:rPr>
              <a:t>Agent → endpoint → secret → grant → policy → key</a:t>
            </a:r>
            <a:endParaRPr lang="en-US" sz="2100" dirty="0"/>
          </a:p>
        </p:txBody>
      </p:sp>
      <p:sp>
        <p:nvSpPr>
          <p:cNvPr id="5" name="Text 3"/>
          <p:cNvSpPr/>
          <p:nvPr/>
        </p:nvSpPr>
        <p:spPr>
          <a:xfrm>
            <a:off x="731520" y="2898648"/>
            <a:ext cx="5486400" cy="2423160"/>
          </a:xfrm>
          <a:prstGeom prst="rect">
            <a:avLst/>
          </a:prstGeom>
          <a:noFill/>
          <a:ln/>
        </p:spPr>
        <p:txBody>
          <a:bodyPr wrap="square" lIns="0" tIns="0" rIns="0" bIns="0" rtlCol="0" anchor="t">
            <a:normAutofit/>
          </a:bodyPr>
          <a:lstStyle/>
          <a:p>
            <a:pPr indent="0" marL="0">
              <a:buNone/>
            </a:pPr>
            <a:r>
              <a:rPr lang="en-US" sz="1800" dirty="0">
                <a:solidFill>
                  <a:srgbClr val="FFFFFF"/>
                </a:solidFill>
                <a:latin typeface="Arial" pitchFamily="34" charset="0"/>
                <a:ea typeface="Arial" pitchFamily="34" charset="-122"/>
                <a:cs typeface="Arial" pitchFamily="34" charset="-120"/>
              </a:rPr>
              <a:t>Register operations manually or import OpenAPI. Protect upstream credentials in the vault. Give the agent a scoped Pact key, never the upstream secret. TypeScript, Python, curl and MCP clients use the same API.</a:t>
            </a:r>
            <a:endParaRPr lang="en-US" sz="1800" dirty="0"/>
          </a:p>
        </p:txBody>
      </p:sp>
      <p:pic>
        <p:nvPicPr>
          <p:cNvPr id="6" name="Image 0" descr="/root/Pact/submission/metropolis-2026/media/docs.png">    </p:cNvPr>
          <p:cNvPicPr>
            <a:picLocks noChangeAspect="1"/>
          </p:cNvPicPr>
          <p:nvPr/>
        </p:nvPicPr>
        <p:blipFill>
          <a:blip r:embed="rId1"/>
          <a:stretch>
            <a:fillRect/>
          </a:stretch>
        </p:blipFill>
        <p:spPr>
          <a:xfrm>
            <a:off x="6949440" y="2999232"/>
            <a:ext cx="4443984" cy="2606040"/>
          </a:xfrm>
          <a:prstGeom prst="rect">
            <a:avLst/>
          </a:prstGeom>
        </p:spPr>
      </p:pic>
      <p:sp>
        <p:nvSpPr>
          <p:cNvPr id="7" name="Text 4"/>
          <p:cNvSpPr/>
          <p:nvPr/>
        </p:nvSpPr>
        <p:spPr>
          <a:xfrm>
            <a:off x="731520" y="6419088"/>
            <a:ext cx="6400800" cy="164592"/>
          </a:xfrm>
          <a:prstGeom prst="rect">
            <a:avLst/>
          </a:prstGeom>
          <a:noFill/>
          <a:ln/>
        </p:spPr>
        <p:txBody>
          <a:bodyPr wrap="square" lIns="0" tIns="0" rIns="0" bIns="0" rtlCol="0" anchor="ctr"/>
          <a:lstStyle/>
          <a:p>
            <a:pPr indent="0" marL="0">
              <a:buNone/>
            </a:pPr>
            <a:r>
              <a:rPr lang="en-US" sz="800" dirty="0">
                <a:solidFill>
                  <a:srgbClr val="B9E7C6"/>
                </a:solidFill>
                <a:latin typeface="Arial" pitchFamily="34" charset="0"/>
                <a:ea typeface="Arial" pitchFamily="34" charset="-122"/>
                <a:cs typeface="Arial" pitchFamily="34" charset="-120"/>
              </a:rPr>
              <a:t>PACT  /  METROPOLIS 2026  /  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731520" y="566928"/>
            <a:ext cx="10058400" cy="256032"/>
          </a:xfrm>
          <a:prstGeom prst="rect">
            <a:avLst/>
          </a:prstGeom>
          <a:noFill/>
          <a:ln/>
        </p:spPr>
        <p:txBody>
          <a:bodyPr wrap="square" lIns="0" tIns="0" rIns="0" bIns="0" rtlCol="0" anchor="ctr"/>
          <a:lstStyle/>
          <a:p>
            <a:pPr indent="0" marL="0">
              <a:buNone/>
            </a:pPr>
            <a:r>
              <a:rPr lang="en-US" sz="1100" b="1" spc="200" kern="0" dirty="0">
                <a:solidFill>
                  <a:srgbClr val="668071"/>
                </a:solidFill>
                <a:latin typeface="Arial" pitchFamily="34" charset="0"/>
                <a:ea typeface="Arial" pitchFamily="34" charset="-122"/>
                <a:cs typeface="Arial" pitchFamily="34" charset="-120"/>
              </a:rPr>
              <a:t>05 / ENFORCE</a:t>
            </a:r>
            <a:endParaRPr lang="en-US" sz="1100" dirty="0"/>
          </a:p>
        </p:txBody>
      </p:sp>
      <p:sp>
        <p:nvSpPr>
          <p:cNvPr id="3" name="Text 1"/>
          <p:cNvSpPr/>
          <p:nvPr/>
        </p:nvSpPr>
        <p:spPr>
          <a:xfrm>
            <a:off x="731520" y="1115568"/>
            <a:ext cx="10698480" cy="960120"/>
          </a:xfrm>
          <a:prstGeom prst="rect">
            <a:avLst/>
          </a:prstGeom>
          <a:noFill/>
          <a:ln/>
        </p:spPr>
        <p:txBody>
          <a:bodyPr wrap="square" lIns="0" tIns="0" rIns="0" bIns="0" rtlCol="0" anchor="ctr"/>
          <a:lstStyle/>
          <a:p>
            <a:pPr indent="0" marL="0">
              <a:buNone/>
            </a:pPr>
            <a:r>
              <a:rPr lang="en-US" sz="3800" b="1" dirty="0">
                <a:solidFill>
                  <a:srgbClr val="203D32"/>
                </a:solidFill>
                <a:latin typeface="Arial" pitchFamily="34" charset="0"/>
                <a:ea typeface="Arial" pitchFamily="34" charset="-122"/>
                <a:cs typeface="Arial" pitchFamily="34" charset="-120"/>
              </a:rPr>
              <a:t>The gateway checks first.</a:t>
            </a:r>
            <a:endParaRPr lang="en-US" sz="3800" dirty="0"/>
          </a:p>
        </p:txBody>
      </p:sp>
      <p:sp>
        <p:nvSpPr>
          <p:cNvPr id="4" name="Text 2"/>
          <p:cNvSpPr/>
          <p:nvPr/>
        </p:nvSpPr>
        <p:spPr>
          <a:xfrm>
            <a:off x="731520" y="2075688"/>
            <a:ext cx="10789920" cy="612648"/>
          </a:xfrm>
          <a:prstGeom prst="rect">
            <a:avLst/>
          </a:prstGeom>
          <a:noFill/>
          <a:ln/>
        </p:spPr>
        <p:txBody>
          <a:bodyPr wrap="square" lIns="0" tIns="0" rIns="0" bIns="0" rtlCol="0" anchor="ctr"/>
          <a:lstStyle/>
          <a:p>
            <a:pPr indent="0" marL="0">
              <a:buNone/>
            </a:pPr>
            <a:r>
              <a:rPr lang="en-US" sz="2100" dirty="0">
                <a:solidFill>
                  <a:srgbClr val="668071"/>
                </a:solidFill>
                <a:latin typeface="Arial" pitchFamily="34" charset="0"/>
                <a:ea typeface="Arial" pitchFamily="34" charset="-122"/>
                <a:cs typeface="Arial" pitchFamily="34" charset="-120"/>
              </a:rPr>
              <a:t>Allowed GET forwards. Forbidden method stops.</a:t>
            </a:r>
            <a:endParaRPr lang="en-US" sz="2100" dirty="0"/>
          </a:p>
        </p:txBody>
      </p:sp>
      <p:sp>
        <p:nvSpPr>
          <p:cNvPr id="5" name="Text 3"/>
          <p:cNvSpPr/>
          <p:nvPr/>
        </p:nvSpPr>
        <p:spPr>
          <a:xfrm>
            <a:off x="731520" y="2898648"/>
            <a:ext cx="9966960" cy="2423160"/>
          </a:xfrm>
          <a:prstGeom prst="rect">
            <a:avLst/>
          </a:prstGeom>
          <a:noFill/>
          <a:ln/>
        </p:spPr>
        <p:txBody>
          <a:bodyPr wrap="square" lIns="0" tIns="0" rIns="0" bIns="0" rtlCol="0" anchor="t">
            <a:normAutofit/>
          </a:bodyPr>
          <a:lstStyle/>
          <a:p>
            <a:pPr indent="0" marL="0">
              <a:buNone/>
            </a:pPr>
            <a:r>
              <a:rPr lang="en-US" sz="2100" dirty="0">
                <a:solidFill>
                  <a:srgbClr val="203D32"/>
                </a:solidFill>
                <a:latin typeface="Arial" pitchFamily="34" charset="0"/>
                <a:ea typeface="Arial" pitchFamily="34" charset="-122"/>
                <a:cs typeface="Arial" pitchFamily="34" charset="-120"/>
              </a:rPr>
              <a:t>The gateway authenticates the key, checks agent and endpoint state, evaluates ordered rules and grant limits, then injects the protected credential only for an allowed upstream call. Denials do not reach the upstream.</a:t>
            </a:r>
            <a:endParaRPr lang="en-US" sz="2100" dirty="0"/>
          </a:p>
        </p:txBody>
      </p:sp>
      <p:sp>
        <p:nvSpPr>
          <p:cNvPr id="6" name="Text 4"/>
          <p:cNvSpPr/>
          <p:nvPr/>
        </p:nvSpPr>
        <p:spPr>
          <a:xfrm>
            <a:off x="731520" y="6419088"/>
            <a:ext cx="6400800" cy="164592"/>
          </a:xfrm>
          <a:prstGeom prst="rect">
            <a:avLst/>
          </a:prstGeom>
          <a:noFill/>
          <a:ln/>
        </p:spPr>
        <p:txBody>
          <a:bodyPr wrap="square" lIns="0" tIns="0" rIns="0" bIns="0" rtlCol="0" anchor="ctr"/>
          <a:lstStyle/>
          <a:p>
            <a:pPr indent="0" marL="0">
              <a:buNone/>
            </a:pPr>
            <a:r>
              <a:rPr lang="en-US" sz="800" dirty="0">
                <a:solidFill>
                  <a:srgbClr val="668071"/>
                </a:solidFill>
                <a:latin typeface="Arial" pitchFamily="34" charset="0"/>
                <a:ea typeface="Arial" pitchFamily="34" charset="-122"/>
                <a:cs typeface="Arial" pitchFamily="34" charset="-120"/>
              </a:rPr>
              <a:t>PACT  /  METROPOLIS 2026  /  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731520" y="566928"/>
            <a:ext cx="10058400" cy="256032"/>
          </a:xfrm>
          <a:prstGeom prst="rect">
            <a:avLst/>
          </a:prstGeom>
          <a:noFill/>
          <a:ln/>
        </p:spPr>
        <p:txBody>
          <a:bodyPr wrap="square" lIns="0" tIns="0" rIns="0" bIns="0" rtlCol="0" anchor="ctr"/>
          <a:lstStyle/>
          <a:p>
            <a:pPr indent="0" marL="0">
              <a:buNone/>
            </a:pPr>
            <a:r>
              <a:rPr lang="en-US" sz="1100" b="1" spc="200" kern="0" dirty="0">
                <a:solidFill>
                  <a:srgbClr val="668071"/>
                </a:solidFill>
                <a:latin typeface="Arial" pitchFamily="34" charset="0"/>
                <a:ea typeface="Arial" pitchFamily="34" charset="-122"/>
                <a:cs typeface="Arial" pitchFamily="34" charset="-120"/>
              </a:rPr>
              <a:t>06 / EXPLAIN</a:t>
            </a:r>
            <a:endParaRPr lang="en-US" sz="1100" dirty="0"/>
          </a:p>
        </p:txBody>
      </p:sp>
      <p:sp>
        <p:nvSpPr>
          <p:cNvPr id="3" name="Text 1"/>
          <p:cNvSpPr/>
          <p:nvPr/>
        </p:nvSpPr>
        <p:spPr>
          <a:xfrm>
            <a:off x="731520" y="1115568"/>
            <a:ext cx="10698480" cy="960120"/>
          </a:xfrm>
          <a:prstGeom prst="rect">
            <a:avLst/>
          </a:prstGeom>
          <a:noFill/>
          <a:ln/>
        </p:spPr>
        <p:txBody>
          <a:bodyPr wrap="square" lIns="0" tIns="0" rIns="0" bIns="0" rtlCol="0" anchor="ctr"/>
          <a:lstStyle/>
          <a:p>
            <a:pPr indent="0" marL="0">
              <a:buNone/>
            </a:pPr>
            <a:r>
              <a:rPr lang="en-US" sz="3800" b="1" dirty="0">
                <a:solidFill>
                  <a:srgbClr val="203D32"/>
                </a:solidFill>
                <a:latin typeface="Arial" pitchFamily="34" charset="0"/>
                <a:ea typeface="Arial" pitchFamily="34" charset="-122"/>
                <a:cs typeface="Arial" pitchFamily="34" charset="-120"/>
              </a:rPr>
              <a:t>Every decision has a trace.</a:t>
            </a:r>
            <a:endParaRPr lang="en-US" sz="3800" dirty="0"/>
          </a:p>
        </p:txBody>
      </p:sp>
      <p:sp>
        <p:nvSpPr>
          <p:cNvPr id="4" name="Text 2"/>
          <p:cNvSpPr/>
          <p:nvPr/>
        </p:nvSpPr>
        <p:spPr>
          <a:xfrm>
            <a:off x="731520" y="2075688"/>
            <a:ext cx="10789920" cy="612648"/>
          </a:xfrm>
          <a:prstGeom prst="rect">
            <a:avLst/>
          </a:prstGeom>
          <a:noFill/>
          <a:ln/>
        </p:spPr>
        <p:txBody>
          <a:bodyPr wrap="square" lIns="0" tIns="0" rIns="0" bIns="0" rtlCol="0" anchor="ctr"/>
          <a:lstStyle/>
          <a:p>
            <a:pPr indent="0" marL="0">
              <a:buNone/>
            </a:pPr>
            <a:r>
              <a:rPr lang="en-US" sz="2100" dirty="0">
                <a:solidFill>
                  <a:srgbClr val="668071"/>
                </a:solidFill>
                <a:latin typeface="Arial" pitchFamily="34" charset="0"/>
                <a:ea typeface="Arial" pitchFamily="34" charset="-122"/>
                <a:cs typeface="Arial" pitchFamily="34" charset="-120"/>
              </a:rPr>
              <a:t>Agent · endpoint · rule · reason · request ID</a:t>
            </a:r>
            <a:endParaRPr lang="en-US" sz="2100" dirty="0"/>
          </a:p>
        </p:txBody>
      </p:sp>
      <p:sp>
        <p:nvSpPr>
          <p:cNvPr id="5" name="Text 3"/>
          <p:cNvSpPr/>
          <p:nvPr/>
        </p:nvSpPr>
        <p:spPr>
          <a:xfrm>
            <a:off x="731520" y="2898648"/>
            <a:ext cx="9966960" cy="2423160"/>
          </a:xfrm>
          <a:prstGeom prst="rect">
            <a:avLst/>
          </a:prstGeom>
          <a:noFill/>
          <a:ln/>
        </p:spPr>
        <p:txBody>
          <a:bodyPr wrap="square" lIns="0" tIns="0" rIns="0" bIns="0" rtlCol="0" anchor="t">
            <a:normAutofit/>
          </a:bodyPr>
          <a:lstStyle/>
          <a:p>
            <a:pPr indent="0" marL="0">
              <a:buNone/>
            </a:pPr>
            <a:r>
              <a:rPr lang="en-US" sz="2100" dirty="0">
                <a:solidFill>
                  <a:srgbClr val="203D32"/>
                </a:solidFill>
                <a:latin typeface="Arial" pitchFamily="34" charset="0"/>
                <a:ea typeface="Arial" pitchFamily="34" charset="-122"/>
                <a:cs typeface="Arial" pitchFamily="34" charset="-120"/>
              </a:rPr>
              <a:t>Live Activity shows allowed, denied and pending decisions with upstream status and latency. HTTP activity is a private operator record, retained under product policy; it is not itself an onchain receipt.</a:t>
            </a:r>
            <a:endParaRPr lang="en-US" sz="2100" dirty="0"/>
          </a:p>
        </p:txBody>
      </p:sp>
      <p:sp>
        <p:nvSpPr>
          <p:cNvPr id="6" name="Text 4"/>
          <p:cNvSpPr/>
          <p:nvPr/>
        </p:nvSpPr>
        <p:spPr>
          <a:xfrm>
            <a:off x="731520" y="6419088"/>
            <a:ext cx="6400800" cy="164592"/>
          </a:xfrm>
          <a:prstGeom prst="rect">
            <a:avLst/>
          </a:prstGeom>
          <a:noFill/>
          <a:ln/>
        </p:spPr>
        <p:txBody>
          <a:bodyPr wrap="square" lIns="0" tIns="0" rIns="0" bIns="0" rtlCol="0" anchor="ctr"/>
          <a:lstStyle/>
          <a:p>
            <a:pPr indent="0" marL="0">
              <a:buNone/>
            </a:pPr>
            <a:r>
              <a:rPr lang="en-US" sz="800" dirty="0">
                <a:solidFill>
                  <a:srgbClr val="668071"/>
                </a:solidFill>
                <a:latin typeface="Arial" pitchFamily="34" charset="0"/>
                <a:ea typeface="Arial" pitchFamily="34" charset="-122"/>
                <a:cs typeface="Arial" pitchFamily="34" charset="-120"/>
              </a:rPr>
              <a:t>PACT  /  METROPOLIS 2026  /  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03D32"/>
        </a:solidFill>
      </p:bgPr>
    </p:bg>
    <p:spTree>
      <p:nvGrpSpPr>
        <p:cNvPr id="1" name=""/>
        <p:cNvGrpSpPr/>
        <p:nvPr/>
      </p:nvGrpSpPr>
      <p:grpSpPr>
        <a:xfrm>
          <a:off x="0" y="0"/>
          <a:ext cx="0" cy="0"/>
          <a:chOff x="0" y="0"/>
          <a:chExt cx="0" cy="0"/>
        </a:xfrm>
      </p:grpSpPr>
      <p:sp>
        <p:nvSpPr>
          <p:cNvPr id="2" name="Text 0"/>
          <p:cNvSpPr/>
          <p:nvPr/>
        </p:nvSpPr>
        <p:spPr>
          <a:xfrm>
            <a:off x="731520" y="566928"/>
            <a:ext cx="10058400" cy="256032"/>
          </a:xfrm>
          <a:prstGeom prst="rect">
            <a:avLst/>
          </a:prstGeom>
          <a:noFill/>
          <a:ln/>
        </p:spPr>
        <p:txBody>
          <a:bodyPr wrap="square" lIns="0" tIns="0" rIns="0" bIns="0" rtlCol="0" anchor="ctr"/>
          <a:lstStyle/>
          <a:p>
            <a:pPr indent="0" marL="0">
              <a:buNone/>
            </a:pPr>
            <a:r>
              <a:rPr lang="en-US" sz="1100" b="1" spc="200" kern="0" dirty="0">
                <a:solidFill>
                  <a:srgbClr val="B9E7C6"/>
                </a:solidFill>
                <a:latin typeface="Arial" pitchFamily="34" charset="0"/>
                <a:ea typeface="Arial" pitchFamily="34" charset="-122"/>
                <a:cs typeface="Arial" pitchFamily="34" charset="-120"/>
              </a:rPr>
              <a:t>07 / ECONOMIC AUTHORITY</a:t>
            </a:r>
            <a:endParaRPr lang="en-US" sz="1100" dirty="0"/>
          </a:p>
        </p:txBody>
      </p:sp>
      <p:sp>
        <p:nvSpPr>
          <p:cNvPr id="3" name="Text 1"/>
          <p:cNvSpPr/>
          <p:nvPr/>
        </p:nvSpPr>
        <p:spPr>
          <a:xfrm>
            <a:off x="731520" y="1115568"/>
            <a:ext cx="10698480" cy="9601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Reserve the full exposure.</a:t>
            </a:r>
            <a:endParaRPr lang="en-US" sz="3800" dirty="0"/>
          </a:p>
        </p:txBody>
      </p:sp>
      <p:sp>
        <p:nvSpPr>
          <p:cNvPr id="4" name="Text 2"/>
          <p:cNvSpPr/>
          <p:nvPr/>
        </p:nvSpPr>
        <p:spPr>
          <a:xfrm>
            <a:off x="731520" y="2075688"/>
            <a:ext cx="10789920" cy="612648"/>
          </a:xfrm>
          <a:prstGeom prst="rect">
            <a:avLst/>
          </a:prstGeom>
          <a:noFill/>
          <a:ln/>
        </p:spPr>
        <p:txBody>
          <a:bodyPr wrap="square" lIns="0" tIns="0" rIns="0" bIns="0" rtlCol="0" anchor="ctr"/>
          <a:lstStyle/>
          <a:p>
            <a:pPr indent="0" marL="0">
              <a:buNone/>
            </a:pPr>
            <a:r>
              <a:rPr lang="en-US" sz="2100" dirty="0">
                <a:solidFill>
                  <a:srgbClr val="B9E7C6"/>
                </a:solidFill>
                <a:latin typeface="Arial" pitchFamily="34" charset="0"/>
                <a:ea typeface="Arial" pitchFamily="34" charset="-122"/>
                <a:cs typeface="Arial" pitchFamily="34" charset="-120"/>
              </a:rPr>
              <a:t>A bound is on the commitment, not only the first charge.</a:t>
            </a:r>
            <a:endParaRPr lang="en-US" sz="2100" dirty="0"/>
          </a:p>
        </p:txBody>
      </p:sp>
      <p:sp>
        <p:nvSpPr>
          <p:cNvPr id="5" name="Text 3"/>
          <p:cNvSpPr/>
          <p:nvPr/>
        </p:nvSpPr>
        <p:spPr>
          <a:xfrm>
            <a:off x="731520" y="2898648"/>
            <a:ext cx="9966960" cy="2423160"/>
          </a:xfrm>
          <a:prstGeom prst="rect">
            <a:avLst/>
          </a:prstGeom>
          <a:noFill/>
          <a:ln/>
        </p:spPr>
        <p:txBody>
          <a:bodyPr wrap="square" lIns="0" tIns="0" rIns="0" bIns="0" rtlCol="0" anchor="t">
            <a:normAutofit/>
          </a:bodyPr>
          <a:lstStyle/>
          <a:p>
            <a:pPr indent="0" marL="0">
              <a:buNone/>
            </a:pPr>
            <a:r>
              <a:rPr lang="en-US" sz="2100" dirty="0">
                <a:solidFill>
                  <a:srgbClr val="FFFFFF"/>
                </a:solidFill>
                <a:latin typeface="Arial" pitchFamily="34" charset="0"/>
                <a:ea typeface="Arial" pitchFamily="34" charset="-122"/>
                <a:cs typeface="Arial" pitchFamily="34" charset="-120"/>
              </a:rPr>
              <a:t>Monad testnet grants constrain agent, token, recipient, per-action amount and aggregate capacity. Contracts reserve exact action capacity, prevent replay and require owner approval above threshold. Recurring liability valuation remains future work.</a:t>
            </a:r>
            <a:endParaRPr lang="en-US" sz="2100" dirty="0"/>
          </a:p>
        </p:txBody>
      </p:sp>
      <p:sp>
        <p:nvSpPr>
          <p:cNvPr id="6" name="Text 4"/>
          <p:cNvSpPr/>
          <p:nvPr/>
        </p:nvSpPr>
        <p:spPr>
          <a:xfrm>
            <a:off x="731520" y="6419088"/>
            <a:ext cx="6400800" cy="164592"/>
          </a:xfrm>
          <a:prstGeom prst="rect">
            <a:avLst/>
          </a:prstGeom>
          <a:noFill/>
          <a:ln/>
        </p:spPr>
        <p:txBody>
          <a:bodyPr wrap="square" lIns="0" tIns="0" rIns="0" bIns="0" rtlCol="0" anchor="ctr"/>
          <a:lstStyle/>
          <a:p>
            <a:pPr indent="0" marL="0">
              <a:buNone/>
            </a:pPr>
            <a:r>
              <a:rPr lang="en-US" sz="800" dirty="0">
                <a:solidFill>
                  <a:srgbClr val="B9E7C6"/>
                </a:solidFill>
                <a:latin typeface="Arial" pitchFamily="34" charset="0"/>
                <a:ea typeface="Arial" pitchFamily="34" charset="-122"/>
                <a:cs typeface="Arial" pitchFamily="34" charset="-120"/>
              </a:rPr>
              <a:t>PACT  /  METROPOLIS 2026  /  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731520" y="566928"/>
            <a:ext cx="10058400" cy="256032"/>
          </a:xfrm>
          <a:prstGeom prst="rect">
            <a:avLst/>
          </a:prstGeom>
          <a:noFill/>
          <a:ln/>
        </p:spPr>
        <p:txBody>
          <a:bodyPr wrap="square" lIns="0" tIns="0" rIns="0" bIns="0" rtlCol="0" anchor="ctr"/>
          <a:lstStyle/>
          <a:p>
            <a:pPr indent="0" marL="0">
              <a:buNone/>
            </a:pPr>
            <a:r>
              <a:rPr lang="en-US" sz="1100" b="1" spc="200" kern="0" dirty="0">
                <a:solidFill>
                  <a:srgbClr val="668071"/>
                </a:solidFill>
                <a:latin typeface="Arial" pitchFamily="34" charset="0"/>
                <a:ea typeface="Arial" pitchFamily="34" charset="-122"/>
                <a:cs typeface="Arial" pitchFamily="34" charset="-120"/>
              </a:rPr>
              <a:t>08 / OBLIGATIONS</a:t>
            </a:r>
            <a:endParaRPr lang="en-US" sz="1100" dirty="0"/>
          </a:p>
        </p:txBody>
      </p:sp>
      <p:sp>
        <p:nvSpPr>
          <p:cNvPr id="3" name="Text 1"/>
          <p:cNvSpPr/>
          <p:nvPr/>
        </p:nvSpPr>
        <p:spPr>
          <a:xfrm>
            <a:off x="731520" y="1115568"/>
            <a:ext cx="10698480" cy="960120"/>
          </a:xfrm>
          <a:prstGeom prst="rect">
            <a:avLst/>
          </a:prstGeom>
          <a:noFill/>
          <a:ln/>
        </p:spPr>
        <p:txBody>
          <a:bodyPr wrap="square" lIns="0" tIns="0" rIns="0" bIns="0" rtlCol="0" anchor="ctr"/>
          <a:lstStyle/>
          <a:p>
            <a:pPr indent="0" marL="0">
              <a:buNone/>
            </a:pPr>
            <a:r>
              <a:rPr lang="en-US" sz="3800" b="1" dirty="0">
                <a:solidFill>
                  <a:srgbClr val="203D32"/>
                </a:solidFill>
                <a:latin typeface="Arial" pitchFamily="34" charset="0"/>
                <a:ea typeface="Arial" pitchFamily="34" charset="-122"/>
                <a:cs typeface="Arial" pitchFamily="34" charset="-120"/>
              </a:rPr>
              <a:t>From promise to settlement.</a:t>
            </a:r>
            <a:endParaRPr lang="en-US" sz="3800" dirty="0"/>
          </a:p>
        </p:txBody>
      </p:sp>
      <p:sp>
        <p:nvSpPr>
          <p:cNvPr id="4" name="Text 2"/>
          <p:cNvSpPr/>
          <p:nvPr/>
        </p:nvSpPr>
        <p:spPr>
          <a:xfrm>
            <a:off x="731520" y="2075688"/>
            <a:ext cx="10789920" cy="612648"/>
          </a:xfrm>
          <a:prstGeom prst="rect">
            <a:avLst/>
          </a:prstGeom>
          <a:noFill/>
          <a:ln/>
        </p:spPr>
        <p:txBody>
          <a:bodyPr wrap="square" lIns="0" tIns="0" rIns="0" bIns="0" rtlCol="0" anchor="ctr"/>
          <a:lstStyle/>
          <a:p>
            <a:pPr indent="0" marL="0">
              <a:buNone/>
            </a:pPr>
            <a:r>
              <a:rPr lang="en-US" sz="2100" dirty="0">
                <a:solidFill>
                  <a:srgbClr val="668071"/>
                </a:solidFill>
                <a:latin typeface="Arial" pitchFamily="34" charset="0"/>
                <a:ea typeface="Arial" pitchFamily="34" charset="-122"/>
                <a:cs typeface="Arial" pitchFamily="34" charset="-120"/>
              </a:rPr>
              <a:t>Terms → escrow → evidence → verdict → receipt</a:t>
            </a:r>
            <a:endParaRPr lang="en-US" sz="2100" dirty="0"/>
          </a:p>
        </p:txBody>
      </p:sp>
      <p:sp>
        <p:nvSpPr>
          <p:cNvPr id="5" name="Text 3"/>
          <p:cNvSpPr/>
          <p:nvPr/>
        </p:nvSpPr>
        <p:spPr>
          <a:xfrm>
            <a:off x="731520" y="2898648"/>
            <a:ext cx="5486400" cy="2423160"/>
          </a:xfrm>
          <a:prstGeom prst="rect">
            <a:avLst/>
          </a:prstGeom>
          <a:noFill/>
          <a:ln/>
        </p:spPr>
        <p:txBody>
          <a:bodyPr wrap="square" lIns="0" tIns="0" rIns="0" bIns="0" rtlCol="0" anchor="t">
            <a:normAutofit/>
          </a:bodyPr>
          <a:lstStyle/>
          <a:p>
            <a:pPr indent="0" marL="0">
              <a:buNone/>
            </a:pPr>
            <a:r>
              <a:rPr lang="en-US" sz="1800" dirty="0">
                <a:solidFill>
                  <a:srgbClr val="203D32"/>
                </a:solidFill>
                <a:latin typeface="Arial" pitchFamily="34" charset="0"/>
                <a:ea typeface="Arial" pitchFamily="34" charset="-122"/>
                <a:cs typeface="Arial" pitchFamily="34" charset="-120"/>
              </a:rPr>
              <a:t>The shipped path supports one funded milestone. Pact links signed terms, evidence, a named verifier verdict, settlement and a receipt root that can be checked against Monad testnet.</a:t>
            </a:r>
            <a:endParaRPr lang="en-US" sz="1800" dirty="0"/>
          </a:p>
        </p:txBody>
      </p:sp>
      <p:pic>
        <p:nvPicPr>
          <p:cNvPr id="6" name="Image 0" descr="/root/Pact/submission/metropolis-2026/media/explorer.png">    </p:cNvPr>
          <p:cNvPicPr>
            <a:picLocks noChangeAspect="1"/>
          </p:cNvPicPr>
          <p:nvPr/>
        </p:nvPicPr>
        <p:blipFill>
          <a:blip r:embed="rId1"/>
          <a:stretch>
            <a:fillRect/>
          </a:stretch>
        </p:blipFill>
        <p:spPr>
          <a:xfrm>
            <a:off x="6949440" y="2999232"/>
            <a:ext cx="4443984" cy="2606040"/>
          </a:xfrm>
          <a:prstGeom prst="rect">
            <a:avLst/>
          </a:prstGeom>
        </p:spPr>
      </p:pic>
      <p:sp>
        <p:nvSpPr>
          <p:cNvPr id="7" name="Text 4"/>
          <p:cNvSpPr/>
          <p:nvPr/>
        </p:nvSpPr>
        <p:spPr>
          <a:xfrm>
            <a:off x="731520" y="6419088"/>
            <a:ext cx="6400800" cy="164592"/>
          </a:xfrm>
          <a:prstGeom prst="rect">
            <a:avLst/>
          </a:prstGeom>
          <a:noFill/>
          <a:ln/>
        </p:spPr>
        <p:txBody>
          <a:bodyPr wrap="square" lIns="0" tIns="0" rIns="0" bIns="0" rtlCol="0" anchor="ctr"/>
          <a:lstStyle/>
          <a:p>
            <a:pPr indent="0" marL="0">
              <a:buNone/>
            </a:pPr>
            <a:r>
              <a:rPr lang="en-US" sz="800" dirty="0">
                <a:solidFill>
                  <a:srgbClr val="668071"/>
                </a:solidFill>
                <a:latin typeface="Arial" pitchFamily="34" charset="0"/>
                <a:ea typeface="Arial" pitchFamily="34" charset="-122"/>
                <a:cs typeface="Arial" pitchFamily="34" charset="-120"/>
              </a:rPr>
              <a:t>PACT  /  METROPOLIS 2026  /  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731520" y="566928"/>
            <a:ext cx="10058400" cy="256032"/>
          </a:xfrm>
          <a:prstGeom prst="rect">
            <a:avLst/>
          </a:prstGeom>
          <a:noFill/>
          <a:ln/>
        </p:spPr>
        <p:txBody>
          <a:bodyPr wrap="square" lIns="0" tIns="0" rIns="0" bIns="0" rtlCol="0" anchor="ctr"/>
          <a:lstStyle/>
          <a:p>
            <a:pPr indent="0" marL="0">
              <a:buNone/>
            </a:pPr>
            <a:r>
              <a:rPr lang="en-US" sz="1100" b="1" spc="200" kern="0" dirty="0">
                <a:solidFill>
                  <a:srgbClr val="668071"/>
                </a:solidFill>
                <a:latin typeface="Arial" pitchFamily="34" charset="0"/>
                <a:ea typeface="Arial" pitchFamily="34" charset="-122"/>
                <a:cs typeface="Arial" pitchFamily="34" charset="-120"/>
              </a:rPr>
              <a:t>09 / EVIDENCE</a:t>
            </a:r>
            <a:endParaRPr lang="en-US" sz="1100" dirty="0"/>
          </a:p>
        </p:txBody>
      </p:sp>
      <p:sp>
        <p:nvSpPr>
          <p:cNvPr id="3" name="Text 1"/>
          <p:cNvSpPr/>
          <p:nvPr/>
        </p:nvSpPr>
        <p:spPr>
          <a:xfrm>
            <a:off x="731520" y="1115568"/>
            <a:ext cx="10698480" cy="960120"/>
          </a:xfrm>
          <a:prstGeom prst="rect">
            <a:avLst/>
          </a:prstGeom>
          <a:noFill/>
          <a:ln/>
        </p:spPr>
        <p:txBody>
          <a:bodyPr wrap="square" lIns="0" tIns="0" rIns="0" bIns="0" rtlCol="0" anchor="ctr"/>
          <a:lstStyle/>
          <a:p>
            <a:pPr indent="0" marL="0">
              <a:buNone/>
            </a:pPr>
            <a:r>
              <a:rPr lang="en-US" sz="3800" b="1" dirty="0">
                <a:solidFill>
                  <a:srgbClr val="203D32"/>
                </a:solidFill>
                <a:latin typeface="Arial" pitchFamily="34" charset="0"/>
                <a:ea typeface="Arial" pitchFamily="34" charset="-122"/>
                <a:cs typeface="Arial" pitchFamily="34" charset="-120"/>
              </a:rPr>
              <a:t>A real testnet exercise.</a:t>
            </a:r>
            <a:endParaRPr lang="en-US" sz="3800" dirty="0"/>
          </a:p>
        </p:txBody>
      </p:sp>
      <p:sp>
        <p:nvSpPr>
          <p:cNvPr id="4" name="Text 2"/>
          <p:cNvSpPr/>
          <p:nvPr/>
        </p:nvSpPr>
        <p:spPr>
          <a:xfrm>
            <a:off x="731520" y="2075688"/>
            <a:ext cx="10789920" cy="612648"/>
          </a:xfrm>
          <a:prstGeom prst="rect">
            <a:avLst/>
          </a:prstGeom>
          <a:noFill/>
          <a:ln/>
        </p:spPr>
        <p:txBody>
          <a:bodyPr wrap="square" lIns="0" tIns="0" rIns="0" bIns="0" rtlCol="0" anchor="ctr"/>
          <a:lstStyle/>
          <a:p>
            <a:pPr indent="0" marL="0">
              <a:buNone/>
            </a:pPr>
            <a:r>
              <a:rPr lang="en-US" sz="2100" dirty="0">
                <a:solidFill>
                  <a:srgbClr val="668071"/>
                </a:solidFill>
                <a:latin typeface="Arial" pitchFamily="34" charset="0"/>
                <a:ea typeface="Arial" pitchFamily="34" charset="-122"/>
                <a:cs typeface="Arial" pitchFamily="34" charset="-120"/>
              </a:rPr>
              <a:t>51 scenarios + 2 operational checks recorded</a:t>
            </a:r>
            <a:endParaRPr lang="en-US" sz="2100" dirty="0"/>
          </a:p>
        </p:txBody>
      </p:sp>
      <p:sp>
        <p:nvSpPr>
          <p:cNvPr id="5" name="Text 3"/>
          <p:cNvSpPr/>
          <p:nvPr/>
        </p:nvSpPr>
        <p:spPr>
          <a:xfrm>
            <a:off x="731520" y="2898648"/>
            <a:ext cx="9966960" cy="2423160"/>
          </a:xfrm>
          <a:prstGeom prst="rect">
            <a:avLst/>
          </a:prstGeom>
          <a:noFill/>
          <a:ln/>
        </p:spPr>
        <p:txBody>
          <a:bodyPr wrap="square" lIns="0" tIns="0" rIns="0" bIns="0" rtlCol="0" anchor="t">
            <a:normAutofit/>
          </a:bodyPr>
          <a:lstStyle/>
          <a:p>
            <a:pPr indent="0" marL="0">
              <a:buNone/>
            </a:pPr>
            <a:r>
              <a:rPr lang="en-US" sz="2100" dirty="0">
                <a:solidFill>
                  <a:srgbClr val="203D32"/>
                </a:solidFill>
                <a:latin typeface="Arial" pitchFamily="34" charset="0"/>
                <a:ea typeface="Arial" pitchFamily="34" charset="-122"/>
                <a:cs typeface="Arial" pitchFamily="34" charset="-120"/>
              </a:rPr>
              <a:t>A separately deployed Railway agent used a real model through Pact, made allowed and denied gateway calls, executed approved test-token transfers and settled a funded obligation. The test actor later expired and its grants were revoked.</a:t>
            </a:r>
            <a:endParaRPr lang="en-US" sz="2100" dirty="0"/>
          </a:p>
        </p:txBody>
      </p:sp>
      <p:sp>
        <p:nvSpPr>
          <p:cNvPr id="6" name="Text 4"/>
          <p:cNvSpPr/>
          <p:nvPr/>
        </p:nvSpPr>
        <p:spPr>
          <a:xfrm>
            <a:off x="731520" y="6419088"/>
            <a:ext cx="6400800" cy="164592"/>
          </a:xfrm>
          <a:prstGeom prst="rect">
            <a:avLst/>
          </a:prstGeom>
          <a:noFill/>
          <a:ln/>
        </p:spPr>
        <p:txBody>
          <a:bodyPr wrap="square" lIns="0" tIns="0" rIns="0" bIns="0" rtlCol="0" anchor="ctr"/>
          <a:lstStyle/>
          <a:p>
            <a:pPr indent="0" marL="0">
              <a:buNone/>
            </a:pPr>
            <a:r>
              <a:rPr lang="en-US" sz="800" dirty="0">
                <a:solidFill>
                  <a:srgbClr val="668071"/>
                </a:solidFill>
                <a:latin typeface="Arial" pitchFamily="34" charset="0"/>
                <a:ea typeface="Arial" pitchFamily="34" charset="-122"/>
                <a:cs typeface="Arial" pitchFamily="34" charset="-120"/>
              </a:rPr>
              <a:t>PACT  /  METROPOLIS 2026  /  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03D32"/>
        </a:solidFill>
      </p:bgPr>
    </p:bg>
    <p:spTree>
      <p:nvGrpSpPr>
        <p:cNvPr id="1" name=""/>
        <p:cNvGrpSpPr/>
        <p:nvPr/>
      </p:nvGrpSpPr>
      <p:grpSpPr>
        <a:xfrm>
          <a:off x="0" y="0"/>
          <a:ext cx="0" cy="0"/>
          <a:chOff x="0" y="0"/>
          <a:chExt cx="0" cy="0"/>
        </a:xfrm>
      </p:grpSpPr>
      <p:sp>
        <p:nvSpPr>
          <p:cNvPr id="2" name="Text 0"/>
          <p:cNvSpPr/>
          <p:nvPr/>
        </p:nvSpPr>
        <p:spPr>
          <a:xfrm>
            <a:off x="731520" y="566928"/>
            <a:ext cx="10058400" cy="256032"/>
          </a:xfrm>
          <a:prstGeom prst="rect">
            <a:avLst/>
          </a:prstGeom>
          <a:noFill/>
          <a:ln/>
        </p:spPr>
        <p:txBody>
          <a:bodyPr wrap="square" lIns="0" tIns="0" rIns="0" bIns="0" rtlCol="0" anchor="ctr"/>
          <a:lstStyle/>
          <a:p>
            <a:pPr indent="0" marL="0">
              <a:buNone/>
            </a:pPr>
            <a:r>
              <a:rPr lang="en-US" sz="1100" b="1" spc="200" kern="0" dirty="0">
                <a:solidFill>
                  <a:srgbClr val="B9E7C6"/>
                </a:solidFill>
                <a:latin typeface="Arial" pitchFamily="34" charset="0"/>
                <a:ea typeface="Arial" pitchFamily="34" charset="-122"/>
                <a:cs typeface="Arial" pitchFamily="34" charset="-120"/>
              </a:rPr>
              <a:t>10 / PUBLIC PROOF</a:t>
            </a:r>
            <a:endParaRPr lang="en-US" sz="1100" dirty="0"/>
          </a:p>
        </p:txBody>
      </p:sp>
      <p:sp>
        <p:nvSpPr>
          <p:cNvPr id="3" name="Text 1"/>
          <p:cNvSpPr/>
          <p:nvPr/>
        </p:nvSpPr>
        <p:spPr>
          <a:xfrm>
            <a:off x="731520" y="1115568"/>
            <a:ext cx="10698480" cy="9601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Inspect the receipt.</a:t>
            </a:r>
            <a:endParaRPr lang="en-US" sz="3800" dirty="0"/>
          </a:p>
        </p:txBody>
      </p:sp>
      <p:sp>
        <p:nvSpPr>
          <p:cNvPr id="4" name="Text 2"/>
          <p:cNvSpPr/>
          <p:nvPr/>
        </p:nvSpPr>
        <p:spPr>
          <a:xfrm>
            <a:off x="731520" y="2075688"/>
            <a:ext cx="10789920" cy="612648"/>
          </a:xfrm>
          <a:prstGeom prst="rect">
            <a:avLst/>
          </a:prstGeom>
          <a:noFill/>
          <a:ln/>
        </p:spPr>
        <p:txBody>
          <a:bodyPr wrap="square" lIns="0" tIns="0" rIns="0" bIns="0" rtlCol="0" anchor="ctr"/>
          <a:lstStyle/>
          <a:p>
            <a:pPr indent="0" marL="0">
              <a:buNone/>
            </a:pPr>
            <a:r>
              <a:rPr lang="en-US" sz="2100" dirty="0">
                <a:solidFill>
                  <a:srgbClr val="B9E7C6"/>
                </a:solidFill>
                <a:latin typeface="Arial" pitchFamily="34" charset="0"/>
                <a:ea typeface="Arial" pitchFamily="34" charset="-122"/>
                <a:cs typeface="Arial" pitchFamily="34" charset="-120"/>
              </a:rPr>
              <a:t>Monad testnet · public receipt 1</a:t>
            </a:r>
            <a:endParaRPr lang="en-US" sz="2100" dirty="0"/>
          </a:p>
        </p:txBody>
      </p:sp>
      <p:sp>
        <p:nvSpPr>
          <p:cNvPr id="5" name="Text 3"/>
          <p:cNvSpPr/>
          <p:nvPr/>
        </p:nvSpPr>
        <p:spPr>
          <a:xfrm>
            <a:off x="731520" y="2898648"/>
            <a:ext cx="5486400" cy="2423160"/>
          </a:xfrm>
          <a:prstGeom prst="rect">
            <a:avLst/>
          </a:prstGeom>
          <a:noFill/>
          <a:ln/>
        </p:spPr>
        <p:txBody>
          <a:bodyPr wrap="square" lIns="0" tIns="0" rIns="0" bIns="0" rtlCol="0" anchor="t">
            <a:normAutofit/>
          </a:bodyPr>
          <a:lstStyle/>
          <a:p>
            <a:pPr indent="0" marL="0">
              <a:buNone/>
            </a:pPr>
            <a:r>
              <a:rPr lang="en-US" sz="1800" dirty="0">
                <a:solidFill>
                  <a:srgbClr val="FFFFFF"/>
                </a:solidFill>
                <a:latin typeface="Arial" pitchFamily="34" charset="0"/>
                <a:ea typeface="Arial" pitchFamily="34" charset="-122"/>
                <a:cs typeface="Arial" pitchFamily="34" charset="-120"/>
              </a:rPr>
              <a:t>The public API reports verification.valid = true. The receipt root matches the recorded chain state. This does not prove real-world delivery or independent assessment.</a:t>
            </a:r>
            <a:endParaRPr lang="en-US" sz="1800" dirty="0"/>
          </a:p>
        </p:txBody>
      </p:sp>
      <p:pic>
        <p:nvPicPr>
          <p:cNvPr id="6" name="Image 0" descr="/root/Pact/submission/metropolis-2026/media/explorer-04.png">    </p:cNvPr>
          <p:cNvPicPr>
            <a:picLocks noChangeAspect="1"/>
          </p:cNvPicPr>
          <p:nvPr/>
        </p:nvPicPr>
        <p:blipFill>
          <a:blip r:embed="rId1"/>
          <a:stretch>
            <a:fillRect/>
          </a:stretch>
        </p:blipFill>
        <p:spPr>
          <a:xfrm>
            <a:off x="6949440" y="2999232"/>
            <a:ext cx="4443984" cy="2606040"/>
          </a:xfrm>
          <a:prstGeom prst="rect">
            <a:avLst/>
          </a:prstGeom>
        </p:spPr>
      </p:pic>
      <p:sp>
        <p:nvSpPr>
          <p:cNvPr id="7" name="Text 4"/>
          <p:cNvSpPr/>
          <p:nvPr/>
        </p:nvSpPr>
        <p:spPr>
          <a:xfrm>
            <a:off x="731520" y="6419088"/>
            <a:ext cx="6400800" cy="164592"/>
          </a:xfrm>
          <a:prstGeom prst="rect">
            <a:avLst/>
          </a:prstGeom>
          <a:noFill/>
          <a:ln/>
        </p:spPr>
        <p:txBody>
          <a:bodyPr wrap="square" lIns="0" tIns="0" rIns="0" bIns="0" rtlCol="0" anchor="ctr"/>
          <a:lstStyle/>
          <a:p>
            <a:pPr indent="0" marL="0">
              <a:buNone/>
            </a:pPr>
            <a:r>
              <a:rPr lang="en-US" sz="800" dirty="0">
                <a:solidFill>
                  <a:srgbClr val="B9E7C6"/>
                </a:solidFill>
                <a:latin typeface="Arial" pitchFamily="34" charset="0"/>
                <a:ea typeface="Arial" pitchFamily="34" charset="-122"/>
                <a:cs typeface="Arial" pitchFamily="34" charset="-120"/>
              </a:rPr>
              <a:t>PACT  /  METROPOLIS 2026  /  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731520" y="566928"/>
            <a:ext cx="10058400" cy="256032"/>
          </a:xfrm>
          <a:prstGeom prst="rect">
            <a:avLst/>
          </a:prstGeom>
          <a:noFill/>
          <a:ln/>
        </p:spPr>
        <p:txBody>
          <a:bodyPr wrap="square" lIns="0" tIns="0" rIns="0" bIns="0" rtlCol="0" anchor="ctr"/>
          <a:lstStyle/>
          <a:p>
            <a:pPr indent="0" marL="0">
              <a:buNone/>
            </a:pPr>
            <a:r>
              <a:rPr lang="en-US" sz="1100" b="1" spc="200" kern="0" dirty="0">
                <a:solidFill>
                  <a:srgbClr val="668071"/>
                </a:solidFill>
                <a:latin typeface="Arial" pitchFamily="34" charset="0"/>
                <a:ea typeface="Arial" pitchFamily="34" charset="-122"/>
                <a:cs typeface="Arial" pitchFamily="34" charset="-120"/>
              </a:rPr>
              <a:t>11 / WHO STARTS</a:t>
            </a:r>
            <a:endParaRPr lang="en-US" sz="1100" dirty="0"/>
          </a:p>
        </p:txBody>
      </p:sp>
      <p:sp>
        <p:nvSpPr>
          <p:cNvPr id="3" name="Text 1"/>
          <p:cNvSpPr/>
          <p:nvPr/>
        </p:nvSpPr>
        <p:spPr>
          <a:xfrm>
            <a:off x="731520" y="1115568"/>
            <a:ext cx="10698480" cy="960120"/>
          </a:xfrm>
          <a:prstGeom prst="rect">
            <a:avLst/>
          </a:prstGeom>
          <a:noFill/>
          <a:ln/>
        </p:spPr>
        <p:txBody>
          <a:bodyPr wrap="square" lIns="0" tIns="0" rIns="0" bIns="0" rtlCol="0" anchor="ctr"/>
          <a:lstStyle/>
          <a:p>
            <a:pPr indent="0" marL="0">
              <a:buNone/>
            </a:pPr>
            <a:r>
              <a:rPr lang="en-US" sz="3800" b="1" dirty="0">
                <a:solidFill>
                  <a:srgbClr val="203D32"/>
                </a:solidFill>
                <a:latin typeface="Arial" pitchFamily="34" charset="0"/>
                <a:ea typeface="Arial" pitchFamily="34" charset="-122"/>
                <a:cs typeface="Arial" pitchFamily="34" charset="-120"/>
              </a:rPr>
              <a:t>Built for agent developers.</a:t>
            </a:r>
            <a:endParaRPr lang="en-US" sz="3800" dirty="0"/>
          </a:p>
        </p:txBody>
      </p:sp>
      <p:sp>
        <p:nvSpPr>
          <p:cNvPr id="4" name="Text 2"/>
          <p:cNvSpPr/>
          <p:nvPr/>
        </p:nvSpPr>
        <p:spPr>
          <a:xfrm>
            <a:off x="731520" y="2075688"/>
            <a:ext cx="10789920" cy="612648"/>
          </a:xfrm>
          <a:prstGeom prst="rect">
            <a:avLst/>
          </a:prstGeom>
          <a:noFill/>
          <a:ln/>
        </p:spPr>
        <p:txBody>
          <a:bodyPr wrap="square" lIns="0" tIns="0" rIns="0" bIns="0" rtlCol="0" anchor="ctr"/>
          <a:lstStyle/>
          <a:p>
            <a:pPr indent="0" marL="0">
              <a:buNone/>
            </a:pPr>
            <a:r>
              <a:rPr lang="en-US" sz="2100" dirty="0">
                <a:solidFill>
                  <a:srgbClr val="668071"/>
                </a:solidFill>
                <a:latin typeface="Arial" pitchFamily="34" charset="0"/>
                <a:ea typeface="Arial" pitchFamily="34" charset="-122"/>
                <a:cs typeface="Arial" pitchFamily="34" charset="-120"/>
              </a:rPr>
              <a:t>Start with one operation and one rule.</a:t>
            </a:r>
            <a:endParaRPr lang="en-US" sz="2100" dirty="0"/>
          </a:p>
        </p:txBody>
      </p:sp>
      <p:sp>
        <p:nvSpPr>
          <p:cNvPr id="5" name="Text 3"/>
          <p:cNvSpPr/>
          <p:nvPr/>
        </p:nvSpPr>
        <p:spPr>
          <a:xfrm>
            <a:off x="731520" y="2898648"/>
            <a:ext cx="9966960" cy="2423160"/>
          </a:xfrm>
          <a:prstGeom prst="rect">
            <a:avLst/>
          </a:prstGeom>
          <a:noFill/>
          <a:ln/>
        </p:spPr>
        <p:txBody>
          <a:bodyPr wrap="square" lIns="0" tIns="0" rIns="0" bIns="0" rtlCol="0" anchor="t">
            <a:normAutofit/>
          </a:bodyPr>
          <a:lstStyle/>
          <a:p>
            <a:pPr indent="0" marL="0">
              <a:buNone/>
            </a:pPr>
            <a:r>
              <a:rPr lang="en-US" sz="2100" dirty="0">
                <a:solidFill>
                  <a:srgbClr val="203D32"/>
                </a:solidFill>
                <a:latin typeface="Arial" pitchFamily="34" charset="0"/>
                <a:ea typeface="Arial" pitchFamily="34" charset="-122"/>
                <a:cs typeface="Arial" pitchFamily="34" charset="-120"/>
              </a:rPr>
              <a:t>First users: teams protecting third-party API calls and Monad-based service or treasury agents. Open-source docs, SDKs, MCP tools and a local demo upstream make the integration reproducible. No customer or revenue claim is made.</a:t>
            </a:r>
            <a:endParaRPr lang="en-US" sz="2100" dirty="0"/>
          </a:p>
        </p:txBody>
      </p:sp>
      <p:sp>
        <p:nvSpPr>
          <p:cNvPr id="6" name="Text 4"/>
          <p:cNvSpPr/>
          <p:nvPr/>
        </p:nvSpPr>
        <p:spPr>
          <a:xfrm>
            <a:off x="731520" y="6419088"/>
            <a:ext cx="6400800" cy="164592"/>
          </a:xfrm>
          <a:prstGeom prst="rect">
            <a:avLst/>
          </a:prstGeom>
          <a:noFill/>
          <a:ln/>
        </p:spPr>
        <p:txBody>
          <a:bodyPr wrap="square" lIns="0" tIns="0" rIns="0" bIns="0" rtlCol="0" anchor="ctr"/>
          <a:lstStyle/>
          <a:p>
            <a:pPr indent="0" marL="0">
              <a:buNone/>
            </a:pPr>
            <a:r>
              <a:rPr lang="en-US" sz="800" dirty="0">
                <a:solidFill>
                  <a:srgbClr val="668071"/>
                </a:solidFill>
                <a:latin typeface="Arial" pitchFamily="34" charset="0"/>
                <a:ea typeface="Arial" pitchFamily="34" charset="-122"/>
                <a:cs typeface="Arial" pitchFamily="34" charset="-120"/>
              </a:rPr>
              <a:t>PACT  /  METROPOLIS 2026  /  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731520" y="566928"/>
            <a:ext cx="10058400" cy="256032"/>
          </a:xfrm>
          <a:prstGeom prst="rect">
            <a:avLst/>
          </a:prstGeom>
          <a:noFill/>
          <a:ln/>
        </p:spPr>
        <p:txBody>
          <a:bodyPr wrap="square" lIns="0" tIns="0" rIns="0" bIns="0" rtlCol="0" anchor="ctr"/>
          <a:lstStyle/>
          <a:p>
            <a:pPr indent="0" marL="0">
              <a:buNone/>
            </a:pPr>
            <a:r>
              <a:rPr lang="en-US" sz="1100" b="1" spc="200" kern="0" dirty="0">
                <a:solidFill>
                  <a:srgbClr val="668071"/>
                </a:solidFill>
                <a:latin typeface="Arial" pitchFamily="34" charset="0"/>
                <a:ea typeface="Arial" pitchFamily="34" charset="-122"/>
                <a:cs typeface="Arial" pitchFamily="34" charset="-120"/>
              </a:rPr>
              <a:t>12 / TRY IT</a:t>
            </a:r>
            <a:endParaRPr lang="en-US" sz="1100" dirty="0"/>
          </a:p>
        </p:txBody>
      </p:sp>
      <p:sp>
        <p:nvSpPr>
          <p:cNvPr id="3" name="Text 1"/>
          <p:cNvSpPr/>
          <p:nvPr/>
        </p:nvSpPr>
        <p:spPr>
          <a:xfrm>
            <a:off x="731520" y="1115568"/>
            <a:ext cx="10698480" cy="960120"/>
          </a:xfrm>
          <a:prstGeom prst="rect">
            <a:avLst/>
          </a:prstGeom>
          <a:noFill/>
          <a:ln/>
        </p:spPr>
        <p:txBody>
          <a:bodyPr wrap="square" lIns="0" tIns="0" rIns="0" bIns="0" rtlCol="0" anchor="ctr"/>
          <a:lstStyle/>
          <a:p>
            <a:pPr indent="0" marL="0">
              <a:buNone/>
            </a:pPr>
            <a:r>
              <a:rPr lang="en-US" sz="3800" b="1" dirty="0">
                <a:solidFill>
                  <a:srgbClr val="203D32"/>
                </a:solidFill>
                <a:latin typeface="Arial" pitchFamily="34" charset="0"/>
                <a:ea typeface="Arial" pitchFamily="34" charset="-122"/>
                <a:cs typeface="Arial" pitchFamily="34" charset="-120"/>
              </a:rPr>
              <a:t>Try Pact.</a:t>
            </a:r>
            <a:endParaRPr lang="en-US" sz="3800" dirty="0"/>
          </a:p>
        </p:txBody>
      </p:sp>
      <p:sp>
        <p:nvSpPr>
          <p:cNvPr id="4" name="Text 2"/>
          <p:cNvSpPr/>
          <p:nvPr/>
        </p:nvSpPr>
        <p:spPr>
          <a:xfrm>
            <a:off x="731520" y="2075688"/>
            <a:ext cx="10789920" cy="612648"/>
          </a:xfrm>
          <a:prstGeom prst="rect">
            <a:avLst/>
          </a:prstGeom>
          <a:noFill/>
          <a:ln/>
        </p:spPr>
        <p:txBody>
          <a:bodyPr wrap="square" lIns="0" tIns="0" rIns="0" bIns="0" rtlCol="0" anchor="ctr"/>
          <a:lstStyle/>
          <a:p>
            <a:pPr indent="0" marL="0">
              <a:buNone/>
            </a:pPr>
            <a:r>
              <a:rPr lang="en-US" sz="2100" dirty="0">
                <a:solidFill>
                  <a:srgbClr val="668071"/>
                </a:solidFill>
                <a:latin typeface="Arial" pitchFamily="34" charset="0"/>
                <a:ea typeface="Arial" pitchFamily="34" charset="-122"/>
                <a:cs typeface="Arial" pitchFamily="34" charset="-120"/>
              </a:rPr>
              <a:t>Live product · source · verifiable testnet evidence</a:t>
            </a:r>
            <a:endParaRPr lang="en-US" sz="2100" dirty="0"/>
          </a:p>
        </p:txBody>
      </p:sp>
      <p:sp>
        <p:nvSpPr>
          <p:cNvPr id="5" name="Text 3"/>
          <p:cNvSpPr/>
          <p:nvPr/>
        </p:nvSpPr>
        <p:spPr>
          <a:xfrm>
            <a:off x="731520" y="2898648"/>
            <a:ext cx="9966960" cy="2423160"/>
          </a:xfrm>
          <a:prstGeom prst="rect">
            <a:avLst/>
          </a:prstGeom>
          <a:noFill/>
          <a:ln/>
        </p:spPr>
        <p:txBody>
          <a:bodyPr wrap="square" lIns="0" tIns="0" rIns="0" bIns="0" rtlCol="0" anchor="t">
            <a:normAutofit/>
          </a:bodyPr>
          <a:lstStyle/>
          <a:p>
            <a:pPr indent="0" marL="0">
              <a:buNone/>
            </a:pPr>
            <a:r>
              <a:rPr lang="en-US" sz="2100" dirty="0">
                <a:solidFill>
                  <a:srgbClr val="203D32"/>
                </a:solidFill>
                <a:latin typeface="Arial" pitchFamily="34" charset="0"/>
                <a:ea typeface="Arial" pitchFamily="34" charset="-122"/>
                <a:cs typeface="Arial" pitchFamily="34" charset="-120"/>
              </a:rPr>
              <a:t>https://pact-protocol-monad.alemzdelight.workers.dev/</a:t>
            </a:r>
            <a:endParaRPr lang="en-US" sz="2100" dirty="0"/>
          </a:p>
          <a:p>
            <a:pPr indent="0" marL="0">
              <a:buNone/>
            </a:pPr>
            <a:r>
              <a:rPr lang="en-US" sz="2100" dirty="0">
                <a:solidFill>
                  <a:srgbClr val="203D32"/>
                </a:solidFill>
                <a:latin typeface="Arial" pitchFamily="34" charset="0"/>
                <a:ea typeface="Arial" pitchFamily="34" charset="-122"/>
                <a:cs typeface="Arial" pitchFamily="34" charset="-120"/>
              </a:rPr>
              <a:t>https://github.com/linoxbt/Pact</a:t>
            </a:r>
            <a:endParaRPr lang="en-US" sz="2100" dirty="0"/>
          </a:p>
          <a:p>
            <a:pPr indent="0" marL="0">
              <a:buNone/>
            </a:pPr>
            <a:r>
              <a:rPr lang="en-US" sz="2100" dirty="0">
                <a:solidFill>
                  <a:srgbClr val="203D32"/>
                </a:solidFill>
                <a:latin typeface="Arial" pitchFamily="34" charset="0"/>
                <a:ea typeface="Arial" pitchFamily="34" charset="-122"/>
                <a:cs typeface="Arial" pitchFamily="34" charset="-120"/>
              </a:rPr>
              <a:t>https://pact-api-production-2ab9.up.railway.app/v1/receipts/1</a:t>
            </a:r>
            <a:endParaRPr lang="en-US" sz="2100" dirty="0"/>
          </a:p>
        </p:txBody>
      </p:sp>
      <p:sp>
        <p:nvSpPr>
          <p:cNvPr id="6" name="Text 4"/>
          <p:cNvSpPr/>
          <p:nvPr/>
        </p:nvSpPr>
        <p:spPr>
          <a:xfrm>
            <a:off x="731520" y="6419088"/>
            <a:ext cx="6400800" cy="164592"/>
          </a:xfrm>
          <a:prstGeom prst="rect">
            <a:avLst/>
          </a:prstGeom>
          <a:noFill/>
          <a:ln/>
        </p:spPr>
        <p:txBody>
          <a:bodyPr wrap="square" lIns="0" tIns="0" rIns="0" bIns="0" rtlCol="0" anchor="ctr"/>
          <a:lstStyle/>
          <a:p>
            <a:pPr indent="0" marL="0">
              <a:buNone/>
            </a:pPr>
            <a:r>
              <a:rPr lang="en-US" sz="800" dirty="0">
                <a:solidFill>
                  <a:srgbClr val="668071"/>
                </a:solidFill>
                <a:latin typeface="Arial" pitchFamily="34" charset="0"/>
                <a:ea typeface="Arial" pitchFamily="34" charset="-122"/>
                <a:cs typeface="Arial" pitchFamily="34" charset="-120"/>
              </a:rPr>
              <a:t>PACT  /  METROPOLIS 2026  /  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Pact pitch deck</dc:title>
  <dc:subject>Pact · Metropolis 2026</dc:subject>
  <dc:creator>linoxbt</dc:creator>
  <cp:lastModifiedBy>linoxbt</cp:lastModifiedBy>
  <cp:revision>1</cp:revision>
  <dcterms:created xsi:type="dcterms:W3CDTF">2026-10-11T22:25:45Z</dcterms:created>
  <dcterms:modified xsi:type="dcterms:W3CDTF">2026-10-11T22:25:45Z</dcterms:modified>
</cp:coreProperties>
</file>